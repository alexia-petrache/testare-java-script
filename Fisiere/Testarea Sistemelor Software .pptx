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3" r:id="rId3"/>
    <p:sldId id="275" r:id="rId4"/>
    <p:sldId id="276" r:id="rId5"/>
    <p:sldId id="277" r:id="rId6"/>
    <p:sldId id="278" r:id="rId7"/>
    <p:sldId id="279" r:id="rId8"/>
    <p:sldId id="280" r:id="rId9"/>
    <p:sldId id="28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51198-A040-4578-A814-26D21F171BF2}" v="13" dt="2026-05-17T19:26:36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67487" autoAdjust="0"/>
  </p:normalViewPr>
  <p:slideViewPr>
    <p:cSldViewPr snapToGrid="0">
      <p:cViewPr varScale="1">
        <p:scale>
          <a:sx n="57" d="100"/>
          <a:sy n="57" d="100"/>
        </p:scale>
        <p:origin x="168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1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>
            <a:extLst>
              <a:ext uri="{FF2B5EF4-FFF2-40B4-BE49-F238E27FC236}">
                <a16:creationId xmlns:a16="http://schemas.microsoft.com/office/drawing/2014/main" id="{CA2E547D-1406-4A6F-8F93-E441204CE6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76667F8A-B889-49B3-AC77-5DDF11A08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9C3C0C9-9602-4744-A491-A28C2F39DBF0}" type="datetime1">
              <a:rPr lang="ro-RO" smtClean="0"/>
              <a:t>17.05.2026</a:t>
            </a:fld>
            <a:endParaRPr lang="ro-RO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567AFD4F-C0E7-421C-AF77-6F9CC963C9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1074AB9F-6726-4FB1-8769-82E23336CE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D529299-61FF-4B93-ADA6-2FD5975D62F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16270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noProof="0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2BA14B7-C501-4D2A-AD24-9C463491594A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o-RO" noProof="0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o-RO" noProof="0"/>
              <a:t>Editați stilurile de text coordonator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noProof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C849E9A-41F7-4779-A581-48A7C374A227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11555188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ro-RO" smtClean="0"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22574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ro-RO" noProof="0" smtClean="0"/>
              <a:t>2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1187507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ro-RO" noProof="0" smtClean="0"/>
              <a:t>6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1215924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rtl="0"/>
            <a:endParaRPr lang="ro-RO" noProof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18390278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23959077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33385968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14508006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3020708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298337767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29776443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41258097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70618621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22476219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37541633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134133692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25828817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36079949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240281454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64593709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o-RO" noProof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377769377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pPr rtl="0"/>
            <a:fld id="{1553DC60-C927-4F6F-A2A4-A068D9BA0453}" type="datetime1">
              <a:rPr lang="ro-RO" noProof="0" smtClean="0"/>
              <a:t>17.05.2026</a:t>
            </a:fld>
            <a:endParaRPr lang="ro-RO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pPr rtl="0"/>
            <a:endParaRPr lang="ro-RO" noProof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A6AF1B4E-90EC-4A51-B6E5-B702C054ECB0}" type="slidenum">
              <a:rPr lang="ro-RO" noProof="0" smtClean="0"/>
              <a:t>‹#›</a:t>
            </a:fld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352329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node.js/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studentmanager.js/" TargetMode="Externa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561AC0E-7195-4ACF-AA0A-5E2923A9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4" y="3290486"/>
            <a:ext cx="6547106" cy="1652133"/>
          </a:xfrm>
        </p:spPr>
        <p:txBody>
          <a:bodyPr rtlCol="0" anchor="t">
            <a:normAutofit/>
          </a:bodyPr>
          <a:lstStyle/>
          <a:p>
            <a:pPr rtl="0"/>
            <a:r>
              <a:rPr lang="ro-RO" sz="4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Segoe UI" panose="020B0502040204020203" pitchFamily="34" charset="0"/>
              </a:rPr>
              <a:t>Testarea Sistemelor Software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814253EE-4FA2-4843-BE27-C7D5B08FF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6" y="3815213"/>
            <a:ext cx="5609219" cy="1652133"/>
          </a:xfrm>
        </p:spPr>
        <p:txBody>
          <a:bodyPr rtlCol="0" anchor="b">
            <a:normAutofit/>
          </a:bodyPr>
          <a:lstStyle/>
          <a:p>
            <a:pPr algn="l" rtl="0"/>
            <a:r>
              <a:rPr lang="ro-RO" sz="2000" dirty="0">
                <a:solidFill>
                  <a:schemeClr val="bg1"/>
                </a:solidFill>
                <a:latin typeface="Arial" panose="020B0604020202020204" pitchFamily="34" charset="0"/>
              </a:rPr>
              <a:t>Tema 4</a:t>
            </a:r>
          </a:p>
        </p:txBody>
      </p:sp>
      <p:pic>
        <p:nvPicPr>
          <p:cNvPr id="9" name="Element grafic 8" descr="Carte deschisă">
            <a:extLst>
              <a:ext uri="{FF2B5EF4-FFF2-40B4-BE49-F238E27FC236}">
                <a16:creationId xmlns:a16="http://schemas.microsoft.com/office/drawing/2014/main" id="{93E427C7-0218-4592-82DA-2431E4BF87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85250" y="164573"/>
            <a:ext cx="1636279" cy="1636279"/>
          </a:xfrm>
          <a:prstGeom prst="rect">
            <a:avLst/>
          </a:prstGeom>
        </p:spPr>
      </p:pic>
      <p:pic>
        <p:nvPicPr>
          <p:cNvPr id="5" name="Element grafic 4" descr="Chat">
            <a:extLst>
              <a:ext uri="{FF2B5EF4-FFF2-40B4-BE49-F238E27FC236}">
                <a16:creationId xmlns:a16="http://schemas.microsoft.com/office/drawing/2014/main" id="{EB71843F-0A0B-4317-B205-4B0A0B97C0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0302" y="1293093"/>
            <a:ext cx="1827742" cy="1827742"/>
          </a:xfrm>
          <a:prstGeom prst="rect">
            <a:avLst/>
          </a:prstGeom>
        </p:spPr>
      </p:pic>
      <p:pic>
        <p:nvPicPr>
          <p:cNvPr id="7" name="Element grafic 6" descr="Tablă">
            <a:extLst>
              <a:ext uri="{FF2B5EF4-FFF2-40B4-BE49-F238E27FC236}">
                <a16:creationId xmlns:a16="http://schemas.microsoft.com/office/drawing/2014/main" id="{2696A1A4-8E43-47F6-A6DC-A9ADAB053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924" y="3621724"/>
            <a:ext cx="2594886" cy="2594886"/>
          </a:xfrm>
          <a:prstGeom prst="rect">
            <a:avLst/>
          </a:prstGeom>
        </p:spPr>
      </p:pic>
      <p:pic>
        <p:nvPicPr>
          <p:cNvPr id="11" name="Element grafic 10" descr="Cărți pe raft">
            <a:extLst>
              <a:ext uri="{FF2B5EF4-FFF2-40B4-BE49-F238E27FC236}">
                <a16:creationId xmlns:a16="http://schemas.microsoft.com/office/drawing/2014/main" id="{18A239E6-97C0-4A74-8E7A-C9FD39A8C9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5024" y="327889"/>
            <a:ext cx="2260711" cy="22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8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EC9AE-7B8A-9873-F1F3-52D3C1E43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Strategiile de testare implementate: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1DAC4-0276-059C-96D2-06CFC3BB0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812" y="2363339"/>
            <a:ext cx="4109310" cy="1056587"/>
          </a:xfrm>
        </p:spPr>
        <p:txBody>
          <a:bodyPr/>
          <a:lstStyle/>
          <a:p>
            <a:pPr algn="ctr"/>
            <a:r>
              <a:rPr lang="ro-RO" sz="2000" dirty="0">
                <a:solidFill>
                  <a:schemeClr val="accent1">
                    <a:lumMod val="50000"/>
                  </a:schemeClr>
                </a:solidFill>
              </a:rPr>
              <a:t>Testare de tip Black-Box (funcțională)</a:t>
            </a:r>
          </a:p>
          <a:p>
            <a:endParaRPr lang="ro-R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B4EDC-F0BC-F3D6-5794-BA37F97003D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74812" y="2944906"/>
            <a:ext cx="4109310" cy="3738282"/>
          </a:xfrm>
        </p:spPr>
        <p:txBody>
          <a:bodyPr>
            <a:normAutofit lnSpcReduction="10000"/>
          </a:bodyPr>
          <a:lstStyle/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ro-RO" sz="1600" b="1" dirty="0"/>
              <a:t>Equivalence Partitioning (EP):</a:t>
            </a:r>
            <a:r>
              <a:rPr lang="ro-RO" sz="1600" dirty="0"/>
              <a:t> Datele de intrare sunt împărțite în clase de echivalență (ex: note valide [1, 10], note invalide, liste goale).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ro-RO" sz="1600" b="1" dirty="0"/>
              <a:t>Boundary Value Analysis (BVA):</a:t>
            </a:r>
            <a:r>
              <a:rPr lang="ro-RO" sz="1600" dirty="0"/>
              <a:t>Limitele critice sunt testate, cum ar fi media exactă de </a:t>
            </a:r>
            <a:r>
              <a:rPr lang="ro-RO" sz="1600" b="1" dirty="0"/>
              <a:t>Concluzie:</a:t>
            </a:r>
            <a:r>
              <a:rPr lang="ro-RO" sz="1600" dirty="0"/>
              <a:t> AI-ul este un asistent bun pentru productivitate, dar nu poate înlocui expertiza umană în testarea de precizie (White-Box).8.50, nota minimă 1 și nota maximă 10.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ro-RO" sz="1600" b="1" dirty="0"/>
              <a:t>Category Partitioning:</a:t>
            </a:r>
            <a:r>
              <a:rPr lang="ro-RO" sz="1600" dirty="0"/>
              <a:t> Verificarea mesajelor de eroare specifice pentru fiecare categorie de input invalid.</a:t>
            </a:r>
          </a:p>
          <a:p>
            <a:endParaRPr lang="ro-R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DFA5B3-B58E-3120-ABEC-B9616CFDF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ro-RO" sz="2000" dirty="0">
                <a:solidFill>
                  <a:schemeClr val="accent1">
                    <a:lumMod val="50000"/>
                  </a:schemeClr>
                </a:solidFill>
              </a:rPr>
              <a:t>Tehnici avansate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994B2D0-2C25-18EF-1D7A-44F3AD7A9248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pPr algn="ctr"/>
            <a:r>
              <a:rPr lang="ro-RO" sz="1600" b="1" dirty="0"/>
              <a:t>Mutation Testing (Kill Mutants):</a:t>
            </a:r>
            <a:r>
              <a:rPr lang="ro-RO" sz="1600" dirty="0"/>
              <a:t> Testele au fost concepute special pentru a detecta "mutanți" (modificări accidentale ale codului, cum ar fi schimbarea operatorului &gt;=, mai mare sau egal, în &gt;, mai mare strict).</a:t>
            </a:r>
          </a:p>
          <a:p>
            <a:endParaRPr lang="ro-RO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5DD0030-CC90-A854-BC2E-4512C14AF4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86700" y="2030506"/>
            <a:ext cx="4130488" cy="1389419"/>
          </a:xfrm>
        </p:spPr>
        <p:txBody>
          <a:bodyPr/>
          <a:lstStyle/>
          <a:p>
            <a:pPr algn="ctr"/>
            <a:r>
              <a:rPr lang="ro-RO" sz="2000" dirty="0">
                <a:solidFill>
                  <a:schemeClr val="accent1">
                    <a:lumMod val="50000"/>
                  </a:schemeClr>
                </a:solidFill>
              </a:rPr>
              <a:t>Testare de tip White-Box (structurală)</a:t>
            </a:r>
          </a:p>
          <a:p>
            <a:endParaRPr lang="ro-RO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8AF9D2-9083-E9FB-6F8D-1D9CDBA0912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886700" y="2944907"/>
            <a:ext cx="4130488" cy="3738282"/>
          </a:xfrm>
        </p:spPr>
        <p:txBody>
          <a:bodyPr>
            <a:normAutofit fontScale="92500"/>
          </a:bodyPr>
          <a:lstStyle/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ro-RO" sz="1600" b="1" dirty="0"/>
              <a:t>Statement Coverage:</a:t>
            </a:r>
            <a:r>
              <a:rPr lang="ro-RO" sz="1600" dirty="0"/>
              <a:t> Fiecare linie de cod a fost executată cel puțin o dată.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ro-RO" sz="1600" b="1" dirty="0"/>
              <a:t>Branch Coverage:</a:t>
            </a:r>
            <a:r>
              <a:rPr lang="ro-RO" sz="1600" dirty="0"/>
              <a:t> Am testat ambele ramuri (adevărat/fals) pentru fiecare instrucțiune if.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ro-RO" sz="1600" b="1" dirty="0"/>
              <a:t>Condition Coverage:</a:t>
            </a:r>
            <a:r>
              <a:rPr lang="ro-RO" sz="1600" dirty="0"/>
              <a:t> Pentru condiția complexă (average &gt;= 8.50 &amp;&amp; !this.grades.includes(4)), am testat toate cele 4 combinații posibile ale tabelului de adevăr.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ro-RO" sz="1600" b="1" dirty="0"/>
              <a:t>Path/Circuits Coverage:</a:t>
            </a:r>
            <a:r>
              <a:rPr lang="ro-RO" sz="1600" dirty="0"/>
              <a:t> Identificarea și testarea tuturor căilor independente prin care poate trece execuția codului</a:t>
            </a:r>
            <a:r>
              <a:rPr lang="ro-RO" dirty="0"/>
              <a:t>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38710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C9A9-5FB9-6030-576C-4F09DE0D7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6" y="1290918"/>
            <a:ext cx="4351023" cy="3670551"/>
          </a:xfrm>
        </p:spPr>
        <p:txBody>
          <a:bodyPr/>
          <a:lstStyle/>
          <a:p>
            <a:r>
              <a:rPr lang="ro-RO" sz="5400" dirty="0"/>
              <a:t>Configuartia sistemului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D7FDD-BF0D-CB73-430C-9C4E42E32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4682360" cy="2283823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o-RO" sz="2400" u="sng" dirty="0">
                <a:solidFill>
                  <a:schemeClr val="tx1"/>
                </a:solidFill>
              </a:rPr>
              <a:t>Si</a:t>
            </a:r>
            <a:r>
              <a:rPr lang="ro-RO" sz="2400" u="sng" cap="none" dirty="0">
                <a:solidFill>
                  <a:schemeClr val="tx1"/>
                </a:solidFill>
              </a:rPr>
              <a:t>stem de operare</a:t>
            </a:r>
            <a:r>
              <a:rPr lang="ro-RO" sz="2400" dirty="0">
                <a:solidFill>
                  <a:schemeClr val="tx1"/>
                </a:solidFill>
              </a:rPr>
              <a:t>: </a:t>
            </a:r>
            <a:r>
              <a:rPr lang="ro-RO" sz="2400" cap="none" dirty="0">
                <a:solidFill>
                  <a:schemeClr val="tx1"/>
                </a:solidFill>
              </a:rPr>
              <a:t>Windows 10/11 / MACos / Linux</a:t>
            </a:r>
            <a:endParaRPr lang="ro-RO" sz="24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o-RO" sz="2400" u="sng" cap="none" dirty="0">
                <a:solidFill>
                  <a:schemeClr val="tx1"/>
                </a:solidFill>
              </a:rPr>
              <a:t>Runtime</a:t>
            </a:r>
            <a:r>
              <a:rPr lang="ro-RO" sz="2400" cap="none" dirty="0">
                <a:solidFill>
                  <a:schemeClr val="tx1"/>
                </a:solidFill>
              </a:rPr>
              <a:t>: </a:t>
            </a:r>
            <a:r>
              <a:rPr lang="ro-RO" sz="2400" u="sng" cap="none" dirty="0">
                <a:solidFill>
                  <a:schemeClr val="tx1"/>
                </a:solidFill>
              </a:rPr>
              <a:t>N</a:t>
            </a:r>
            <a:r>
              <a:rPr lang="ro-RO" sz="2400" u="sng" cap="none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ode.js</a:t>
            </a:r>
            <a:r>
              <a:rPr lang="ro-RO" sz="2400" cap="none" dirty="0">
                <a:solidFill>
                  <a:schemeClr val="tx1"/>
                </a:solidFill>
              </a:rPr>
              <a:t> v18.x sau mai nou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o-RO" sz="2400" u="sng" cap="none" dirty="0">
                <a:solidFill>
                  <a:schemeClr val="tx1"/>
                </a:solidFill>
              </a:rPr>
              <a:t>Framework testare</a:t>
            </a:r>
            <a:r>
              <a:rPr lang="ro-RO" sz="2400" cap="none" dirty="0">
                <a:solidFill>
                  <a:schemeClr val="tx1"/>
                </a:solidFill>
              </a:rPr>
              <a:t>: Jest v30.3.0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o-RO" sz="2400" u="sng" cap="none" dirty="0">
                <a:solidFill>
                  <a:schemeClr val="tx1"/>
                </a:solidFill>
              </a:rPr>
              <a:t>Limbaj</a:t>
            </a:r>
            <a:r>
              <a:rPr lang="ro-RO" sz="2400" cap="none" dirty="0">
                <a:solidFill>
                  <a:schemeClr val="tx1"/>
                </a:solidFill>
              </a:rPr>
              <a:t>: JavaScript (ES6+)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o-RO" sz="2400" u="sng" cap="none" dirty="0">
                <a:solidFill>
                  <a:schemeClr val="tx1"/>
                </a:solidFill>
              </a:rPr>
              <a:t>IDEs folosite</a:t>
            </a:r>
            <a:r>
              <a:rPr lang="ro-RO" sz="2400" cap="none" dirty="0">
                <a:solidFill>
                  <a:schemeClr val="tx1"/>
                </a:solidFill>
              </a:rPr>
              <a:t>: VS Code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br>
              <a:rPr lang="ro-RO" sz="2400" cap="none" dirty="0">
                <a:solidFill>
                  <a:schemeClr val="tx1"/>
                </a:solidFill>
              </a:rPr>
            </a:br>
            <a:endParaRPr lang="ro-RO" sz="240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03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CCE7F-AC27-BEBF-8132-A3FFE9895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800" dirty="0"/>
              <a:t>Interpretarea rezultatelor și cazuri speciale</a:t>
            </a:r>
            <a:endParaRPr lang="ro-RO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74DAE-CCA8-3B4F-A264-32E504844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8" y="1156447"/>
            <a:ext cx="4668913" cy="4854387"/>
          </a:xfrm>
        </p:spPr>
        <p:txBody>
          <a:bodyPr>
            <a:normAutofit fontScale="92500" lnSpcReduction="20000"/>
          </a:bodyPr>
          <a:lstStyle/>
          <a:p>
            <a:r>
              <a:rPr lang="ro-RO" sz="2600" cap="none" dirty="0">
                <a:solidFill>
                  <a:schemeClr val="tx1"/>
                </a:solidFill>
              </a:rPr>
              <a:t>Un aspect interesant descoperit în timpul testării este </a:t>
            </a:r>
            <a:r>
              <a:rPr lang="ro-RO" sz="2600" b="1" cap="none" dirty="0">
                <a:solidFill>
                  <a:schemeClr val="tx1"/>
                </a:solidFill>
              </a:rPr>
              <a:t>edge case-ul pentru nan (not-a-number)</a:t>
            </a:r>
            <a:r>
              <a:rPr lang="ro-RO" sz="2600" cap="none" dirty="0">
                <a:solidFill>
                  <a:schemeClr val="tx1"/>
                </a:solidFill>
              </a:rPr>
              <a:t>:</a:t>
            </a:r>
          </a:p>
          <a:p>
            <a:r>
              <a:rPr lang="ro-RO" sz="2600" cap="none" dirty="0">
                <a:solidFill>
                  <a:schemeClr val="tx1"/>
                </a:solidFill>
              </a:rPr>
              <a:t>In javascript, typeof nan este ‘number’. Testele demonstrează că o notă de tip nan trece de prima validare, dar corupe media finală, ducând la respingerea bursei. Aceasta este o observație critică despre comportamentul limbajului</a:t>
            </a:r>
            <a:r>
              <a:rPr lang="ro-RO" dirty="0"/>
              <a:t>.</a:t>
            </a:r>
          </a:p>
          <a:p>
            <a:br>
              <a:rPr lang="ro-RO" dirty="0"/>
            </a:b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66349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FF7F-35CE-C669-062A-48C75AE1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295836"/>
            <a:ext cx="3296022" cy="1290918"/>
          </a:xfrm>
        </p:spPr>
        <p:txBody>
          <a:bodyPr/>
          <a:lstStyle/>
          <a:p>
            <a:pPr algn="ctr"/>
            <a:r>
              <a:rPr lang="ro-RO" b="1" dirty="0"/>
              <a:t>Raport: Teste scrise de om vs. AI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59175-5C47-AA63-289C-D880F4513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8566" y="1882588"/>
            <a:ext cx="3832410" cy="4975412"/>
          </a:xfrm>
        </p:spPr>
        <p:txBody>
          <a:bodyPr>
            <a:normAutofit fontScale="92500" lnSpcReduction="10000"/>
          </a:bodyPr>
          <a:lstStyle/>
          <a:p>
            <a:r>
              <a:rPr lang="ro-RO" sz="2200" dirty="0">
                <a:solidFill>
                  <a:schemeClr val="bg1"/>
                </a:solidFill>
              </a:rPr>
              <a:t>Pentru testul AI am folosit Gemini 1.5 Pro în scopul generării automate a unei suite de teste unitare pentru clasa </a:t>
            </a:r>
            <a:r>
              <a:rPr lang="ro-RO" sz="2200" u="sng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StudentManager.js</a:t>
            </a:r>
            <a:r>
              <a:rPr lang="ro-RO" sz="2200" dirty="0">
                <a:solidFill>
                  <a:schemeClr val="bg1"/>
                </a:solidFill>
              </a:rPr>
              <a:t>.</a:t>
            </a:r>
          </a:p>
          <a:p>
            <a:r>
              <a:rPr lang="ro-RO" sz="2200" dirty="0">
                <a:solidFill>
                  <a:schemeClr val="bg1"/>
                </a:solidFill>
              </a:rPr>
              <a:t>Prompt-ul trimis către tool-ul de intelogență artificială a fost „Analizează clasa StudentManager.js și generează o suită de teste unitare folosind framework-ul Jest. Asigură-te că testezi calculul mediei și validările pentru note.”</a:t>
            </a:r>
          </a:p>
          <a:p>
            <a:br>
              <a:rPr lang="ro-RO" dirty="0"/>
            </a:br>
            <a:endParaRPr lang="ro-RO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3C1113-3AC4-EEC4-EDE8-B10034F2C2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989" y="1237130"/>
            <a:ext cx="6925235" cy="524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1454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675EE-5F06-6EA6-AF5C-4BE310BD6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Raport: Teste scrise de om vs. AI</a:t>
            </a:r>
            <a:endParaRPr lang="ro-RO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2E59D3-7208-872B-A0A6-C1D160451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09747"/>
              </p:ext>
            </p:extLst>
          </p:nvPr>
        </p:nvGraphicFramePr>
        <p:xfrm>
          <a:off x="510988" y="323165"/>
          <a:ext cx="9749118" cy="4127812"/>
        </p:xfrm>
        <a:graphic>
          <a:graphicData uri="http://schemas.openxmlformats.org/drawingml/2006/table">
            <a:tbl>
              <a:tblPr/>
              <a:tblGrid>
                <a:gridCol w="3087647">
                  <a:extLst>
                    <a:ext uri="{9D8B030D-6E8A-4147-A177-3AD203B41FA5}">
                      <a16:colId xmlns:a16="http://schemas.microsoft.com/office/drawing/2014/main" val="640172682"/>
                    </a:ext>
                  </a:extLst>
                </a:gridCol>
                <a:gridCol w="3087647">
                  <a:extLst>
                    <a:ext uri="{9D8B030D-6E8A-4147-A177-3AD203B41FA5}">
                      <a16:colId xmlns:a16="http://schemas.microsoft.com/office/drawing/2014/main" val="3034789327"/>
                    </a:ext>
                  </a:extLst>
                </a:gridCol>
                <a:gridCol w="3573824">
                  <a:extLst>
                    <a:ext uri="{9D8B030D-6E8A-4147-A177-3AD203B41FA5}">
                      <a16:colId xmlns:a16="http://schemas.microsoft.com/office/drawing/2014/main" val="490252521"/>
                    </a:ext>
                  </a:extLst>
                </a:gridCol>
              </a:tblGrid>
              <a:tr h="52618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o-R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Caracteristică</a:t>
                      </a:r>
                      <a:endParaRPr lang="ro-RO" sz="1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o-R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Om</a:t>
                      </a:r>
                      <a:endParaRPr lang="ro-RO" sz="1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o-R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endParaRPr lang="ro-RO" sz="1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252519"/>
                  </a:ext>
                </a:extLst>
              </a:tr>
              <a:tr h="82556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o-RO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Metodologie</a:t>
                      </a:r>
                      <a:endParaRPr lang="ro-RO" sz="1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o-R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Urmează riguros EP, BVA și Mutation Testing</a:t>
                      </a:r>
                      <a:endParaRPr lang="ro-RO" sz="1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o-R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bazează pe cazuri de utilizare comune (Happy Path)</a:t>
                      </a:r>
                      <a:endParaRPr lang="ro-RO" sz="1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596366"/>
                  </a:ext>
                </a:extLst>
              </a:tr>
              <a:tr h="112494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o-RO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Acoperirea ramurilor</a:t>
                      </a:r>
                      <a:endParaRPr lang="ro-RO" sz="1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o-R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 (testează separat condițiile complexe)</a:t>
                      </a:r>
                      <a:endParaRPr lang="ro-RO" sz="1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o-R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~70% (ignoră cazul unui student cu media mare, dar cu o notă de 4)</a:t>
                      </a:r>
                      <a:endParaRPr lang="ro-RO" sz="1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82934"/>
                  </a:ext>
                </a:extLst>
              </a:tr>
              <a:tr h="82556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o-R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Edge Cases</a:t>
                      </a:r>
                      <a:endParaRPr lang="ro-RO" sz="1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Include cazuri specifice de tip NaN, null sau undefined</a:t>
                      </a:r>
                      <a:endParaRPr lang="it-IT" sz="1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it-I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Testează doar valori numerice standard</a:t>
                      </a:r>
                      <a:endParaRPr lang="it-IT" sz="1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824369"/>
                  </a:ext>
                </a:extLst>
              </a:tr>
              <a:tr h="82556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o-RO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Documentare</a:t>
                      </a:r>
                      <a:endParaRPr lang="ro-RO" sz="1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Explică legătura cu teoria testării</a:t>
                      </a:r>
                      <a:endParaRPr lang="pt-BR" sz="1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o-R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Oferă doar descrieri scurte ale testelor</a:t>
                      </a:r>
                      <a:endParaRPr lang="ro-RO" sz="18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082529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ED22EEBA-64C6-3D5D-25EC-D2FAA56D8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489167" y="-323166"/>
            <a:ext cx="195016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216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E6E40-85B9-CD5C-1D75-E2154EDC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Concluzii(om vs. AI)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A2511-6FDB-DF24-3667-CD43EE8C3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90765" y="1223682"/>
            <a:ext cx="5204011" cy="5082989"/>
          </a:xfrm>
        </p:spPr>
        <p:txBody>
          <a:bodyPr/>
          <a:lstStyle/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ro-RO" cap="none" dirty="0">
                <a:solidFill>
                  <a:schemeClr val="tx1"/>
                </a:solidFill>
              </a:rPr>
              <a:t>Punctele forte ale ai-ul sunt viteza de execuție și ușurința în a genera rapid un „boiler plate” (schelet) pentru teste. </a:t>
            </a:r>
          </a:p>
          <a:p>
            <a:pPr marL="342900" indent="-342900" fontAlgn="base">
              <a:buFont typeface="Wingdings" panose="05000000000000000000" pitchFamily="2" charset="2"/>
              <a:buChar char="§"/>
            </a:pPr>
            <a:r>
              <a:rPr lang="ro-RO" cap="none" dirty="0">
                <a:solidFill>
                  <a:schemeClr val="tx1"/>
                </a:solidFill>
              </a:rPr>
              <a:t>Punctele sale slabe sunt ratarea condiției logice „invizibilă” (nota 4 blochează bursa chiar dacă media e mare) până când nu a fost instruit special. De asemenea, nu a considerat cazurile de „Boundary Value” (exact 8.50).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o-RO" cap="none" dirty="0">
                <a:solidFill>
                  <a:schemeClr val="tx1"/>
                </a:solidFill>
              </a:rPr>
              <a:t>Concluzie</a:t>
            </a:r>
            <a:r>
              <a:rPr lang="ro-RO" b="1" cap="none" dirty="0">
                <a:solidFill>
                  <a:schemeClr val="tx1"/>
                </a:solidFill>
              </a:rPr>
              <a:t>:</a:t>
            </a:r>
            <a:r>
              <a:rPr lang="ro-RO" cap="none" dirty="0">
                <a:solidFill>
                  <a:schemeClr val="tx1"/>
                </a:solidFill>
              </a:rPr>
              <a:t> AI-ul este un asistent bun pentru productivitate, dar nu poate înlocui expertiza umană în testarea de precizie (White-Box).</a:t>
            </a:r>
          </a:p>
        </p:txBody>
      </p:sp>
    </p:spTree>
    <p:extLst>
      <p:ext uri="{BB962C8B-B14F-4D97-AF65-F5344CB8AC3E}">
        <p14:creationId xmlns:p14="http://schemas.microsoft.com/office/powerpoint/2010/main" val="1340192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5913A-C8D5-72CF-3CDD-A299925E2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788490"/>
            <a:ext cx="8825658" cy="1292130"/>
          </a:xfrm>
        </p:spPr>
        <p:txBody>
          <a:bodyPr/>
          <a:lstStyle/>
          <a:p>
            <a:r>
              <a:rPr lang="ro-RO" sz="4800" dirty="0"/>
              <a:t>Rularea testului facut de 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B9F9B5-305B-E18A-1840-A2AE24256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186" y="2080620"/>
            <a:ext cx="8967201" cy="398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10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83780-EC3D-5F87-EA7A-1B011E4B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Prcurgerea codului</a:t>
            </a:r>
          </a:p>
        </p:txBody>
      </p:sp>
      <p:pic>
        <p:nvPicPr>
          <p:cNvPr id="3" name="Picture 2" descr="A diagram of a work flow&#10;&#10;AI-generated content may be incorrect.">
            <a:extLst>
              <a:ext uri="{FF2B5EF4-FFF2-40B4-BE49-F238E27FC236}">
                <a16:creationId xmlns:a16="http://schemas.microsoft.com/office/drawing/2014/main" id="{B2C1112B-CF31-FACE-0825-55EF42564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454" y="0"/>
            <a:ext cx="30235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0010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2098</TotalTime>
  <Words>1308</Words>
  <Application>Microsoft Office PowerPoint</Application>
  <PresentationFormat>Widescreen</PresentationFormat>
  <Paragraphs>112</Paragraphs>
  <Slides>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Ion Boardroom</vt:lpstr>
      <vt:lpstr>Testarea Sistemelor Software</vt:lpstr>
      <vt:lpstr>Strategiile de testare implementate:</vt:lpstr>
      <vt:lpstr>Configuartia sistemului</vt:lpstr>
      <vt:lpstr>Interpretarea rezultatelor și cazuri speciale</vt:lpstr>
      <vt:lpstr>Raport: Teste scrise de om vs. AI</vt:lpstr>
      <vt:lpstr>Raport: Teste scrise de om vs. AI</vt:lpstr>
      <vt:lpstr>Concluzii(om vs. AI)</vt:lpstr>
      <vt:lpstr>Rularea testului facut de AI</vt:lpstr>
      <vt:lpstr>Prcurgerea codului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BIANCA-CRISTINA MATARA</dc:creator>
  <cp:lastModifiedBy>BIANCA-CRISTINA MATARA</cp:lastModifiedBy>
  <cp:revision>12</cp:revision>
  <dcterms:created xsi:type="dcterms:W3CDTF">2026-04-19T19:42:33Z</dcterms:created>
  <dcterms:modified xsi:type="dcterms:W3CDTF">2026-05-17T19:27:11Z</dcterms:modified>
</cp:coreProperties>
</file>